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A36"/>
                </a:solidFill>
              </a:defRPr>
            </a:pPr>
            <a:r>
              <a:t>Overview of the VMDM framework and study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" y="548640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200">
                <a:solidFill>
                  <a:srgbClr val="1F2A36"/>
                </a:solidFill>
              </a:defRPr>
            </a:pPr>
            <a:r>
              <a:t>a</a:t>
            </a:r>
          </a:p>
        </p:txBody>
      </p:sp>
      <p:pic>
        <p:nvPicPr>
          <p:cNvPr id="4" name="Picture 3" descr="icon_database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576072"/>
            <a:ext cx="1662792" cy="859536"/>
          </a:xfrm>
          <a:prstGeom prst="rect">
            <a:avLst/>
          </a:prstGeom>
        </p:spPr>
      </p:pic>
      <p:pic>
        <p:nvPicPr>
          <p:cNvPr id="5" name="Picture 4" descr="icon_isolate_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448" y="621792"/>
            <a:ext cx="1662792" cy="859536"/>
          </a:xfrm>
          <a:prstGeom prst="rect">
            <a:avLst/>
          </a:prstGeom>
        </p:spPr>
      </p:pic>
      <p:sp>
        <p:nvSpPr>
          <p:cNvPr id="6" name="Down Arrow 5"/>
          <p:cNvSpPr/>
          <p:nvPr/>
        </p:nvSpPr>
        <p:spPr>
          <a:xfrm>
            <a:off x="1178868" y="1792224"/>
            <a:ext cx="256032" cy="274320"/>
          </a:xfrm>
          <a:prstGeom prst="downArrow">
            <a:avLst/>
          </a:prstGeom>
          <a:solidFill>
            <a:srgbClr val="5D7F99"/>
          </a:solidFill>
          <a:ln w="6350">
            <a:solidFill>
              <a:srgbClr val="5D7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wn Arrow 6"/>
          <p:cNvSpPr/>
          <p:nvPr/>
        </p:nvSpPr>
        <p:spPr>
          <a:xfrm>
            <a:off x="3042829" y="1792224"/>
            <a:ext cx="256032" cy="274320"/>
          </a:xfrm>
          <a:prstGeom prst="downArrow">
            <a:avLst/>
          </a:prstGeom>
          <a:solidFill>
            <a:srgbClr val="5D7F99"/>
          </a:solidFill>
          <a:ln w="6350">
            <a:solidFill>
              <a:srgbClr val="5D7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2157984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200">
                <a:solidFill>
                  <a:srgbClr val="1F2A36"/>
                </a:solidFill>
              </a:defRPr>
            </a:pPr>
            <a:r>
              <a:t>b</a:t>
            </a:r>
          </a:p>
        </p:txBody>
      </p:sp>
      <p:pic>
        <p:nvPicPr>
          <p:cNvPr id="9" name="Picture 8" descr="icon_quality_con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121408"/>
            <a:ext cx="1759305" cy="950976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1227124" y="2889504"/>
            <a:ext cx="256032" cy="274320"/>
          </a:xfrm>
          <a:prstGeom prst="downArrow">
            <a:avLst/>
          </a:prstGeom>
          <a:solidFill>
            <a:srgbClr val="5D7F99"/>
          </a:solidFill>
          <a:ln w="6350">
            <a:solidFill>
              <a:srgbClr val="5D7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" y="3255264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200">
                <a:solidFill>
                  <a:srgbClr val="1F2A36"/>
                </a:solidFill>
              </a:defRPr>
            </a:pPr>
            <a:r>
              <a:t>c</a:t>
            </a:r>
          </a:p>
        </p:txBody>
      </p:sp>
      <p:pic>
        <p:nvPicPr>
          <p:cNvPr id="12" name="Picture 11" descr="icon_training_s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236976"/>
            <a:ext cx="1662792" cy="859536"/>
          </a:xfrm>
          <a:prstGeom prst="rect">
            <a:avLst/>
          </a:prstGeom>
        </p:spPr>
      </p:pic>
      <p:pic>
        <p:nvPicPr>
          <p:cNvPr id="13" name="Picture 12" descr="icon_validation_s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931920"/>
            <a:ext cx="1662792" cy="8595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3218688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200">
                <a:solidFill>
                  <a:srgbClr val="1F2A36"/>
                </a:solidFill>
              </a:defRPr>
            </a:pPr>
            <a:r>
              <a:t>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156568" y="3607308"/>
            <a:ext cx="237744" cy="118872"/>
          </a:xfrm>
          <a:prstGeom prst="rightArrow">
            <a:avLst/>
          </a:prstGeom>
          <a:solidFill>
            <a:srgbClr val="5D7F99"/>
          </a:solidFill>
          <a:ln w="6350">
            <a:solidFill>
              <a:srgbClr val="5D7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_press_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8008" y="3163824"/>
            <a:ext cx="2246196" cy="10607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331720" y="1956816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200">
                <a:solidFill>
                  <a:srgbClr val="1F2A36"/>
                </a:solidFill>
              </a:defRPr>
            </a:pPr>
            <a:r>
              <a:t>e</a:t>
            </a:r>
          </a:p>
        </p:txBody>
      </p:sp>
      <p:pic>
        <p:nvPicPr>
          <p:cNvPr id="18" name="Picture 17" descr="icon_test_tu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9152" y="2052828"/>
            <a:ext cx="1659781" cy="960120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 flipV="1">
            <a:off x="2138280" y="2532888"/>
            <a:ext cx="220872" cy="1828800"/>
          </a:xfrm>
          <a:prstGeom prst="line">
            <a:avLst/>
          </a:prstGeom>
          <a:ln w="13970">
            <a:solidFill>
              <a:srgbClr val="5D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ight Arrow 19"/>
          <p:cNvSpPr/>
          <p:nvPr/>
        </p:nvSpPr>
        <p:spPr>
          <a:xfrm>
            <a:off x="4037221" y="2473452"/>
            <a:ext cx="237744" cy="118872"/>
          </a:xfrm>
          <a:prstGeom prst="rightArrow">
            <a:avLst/>
          </a:prstGeom>
          <a:solidFill>
            <a:srgbClr val="5D7F99"/>
          </a:solidFill>
          <a:ln w="6350">
            <a:solidFill>
              <a:srgbClr val="5D7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28661" y="1956816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200">
                <a:solidFill>
                  <a:srgbClr val="1F2A36"/>
                </a:solidFill>
              </a:defRPr>
            </a:pPr>
            <a:r>
              <a:t>f</a:t>
            </a:r>
          </a:p>
        </p:txBody>
      </p:sp>
      <p:pic>
        <p:nvPicPr>
          <p:cNvPr id="22" name="Picture 21" descr="icon_mutation_q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0373" y="2011680"/>
            <a:ext cx="1753154" cy="1042415"/>
          </a:xfrm>
          <a:prstGeom prst="rect">
            <a:avLst/>
          </a:prstGeom>
        </p:spPr>
      </p:pic>
      <p:sp>
        <p:nvSpPr>
          <p:cNvPr id="23" name="Right Arrow 22"/>
          <p:cNvSpPr/>
          <p:nvPr/>
        </p:nvSpPr>
        <p:spPr>
          <a:xfrm>
            <a:off x="5881816" y="2473452"/>
            <a:ext cx="237744" cy="118872"/>
          </a:xfrm>
          <a:prstGeom prst="rightArrow">
            <a:avLst/>
          </a:prstGeom>
          <a:solidFill>
            <a:srgbClr val="5D7F99"/>
          </a:solidFill>
          <a:ln w="6350">
            <a:solidFill>
              <a:srgbClr val="5D7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73256" y="1956816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200">
                <a:solidFill>
                  <a:srgbClr val="1F2A36"/>
                </a:solidFill>
              </a:defRPr>
            </a:pPr>
            <a:r>
              <a:t>g</a:t>
            </a:r>
          </a:p>
        </p:txBody>
      </p:sp>
      <p:pic>
        <p:nvPicPr>
          <p:cNvPr id="25" name="Picture 24" descr="icon_prediction_pipeli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4968" y="2011680"/>
            <a:ext cx="2994928" cy="1060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0373" y="4078224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200">
                <a:solidFill>
                  <a:srgbClr val="1F2A36"/>
                </a:solidFill>
              </a:defRPr>
            </a:pPr>
            <a:r>
              <a:t>h</a:t>
            </a:r>
          </a:p>
        </p:txBody>
      </p:sp>
      <p:pic>
        <p:nvPicPr>
          <p:cNvPr id="27" name="Picture 26" descr="icon_who_catalo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2085" y="3913632"/>
            <a:ext cx="1662792" cy="859536"/>
          </a:xfrm>
          <a:prstGeom prst="rect">
            <a:avLst/>
          </a:prstGeom>
        </p:spPr>
      </p:pic>
      <p:cxnSp>
        <p:nvCxnSpPr>
          <p:cNvPr id="28" name="Connector 27"/>
          <p:cNvCxnSpPr/>
          <p:nvPr/>
        </p:nvCxnSpPr>
        <p:spPr>
          <a:xfrm flipH="1">
            <a:off x="4923482" y="3054096"/>
            <a:ext cx="63469" cy="859536"/>
          </a:xfrm>
          <a:prstGeom prst="line">
            <a:avLst/>
          </a:prstGeom>
          <a:ln w="13970">
            <a:solidFill>
              <a:srgbClr val="5D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48655" y="4169663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200">
                <a:solidFill>
                  <a:srgbClr val="1F2A36"/>
                </a:solidFill>
              </a:defRPr>
            </a:pPr>
            <a:r>
              <a:t>i</a:t>
            </a:r>
          </a:p>
        </p:txBody>
      </p:sp>
      <p:pic>
        <p:nvPicPr>
          <p:cNvPr id="30" name="Picture 29" descr="icon_vmdm_integrat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0368" y="4005072"/>
            <a:ext cx="1662792" cy="859536"/>
          </a:xfrm>
          <a:prstGeom prst="rect">
            <a:avLst/>
          </a:prstGeom>
        </p:spPr>
      </p:pic>
      <p:cxnSp>
        <p:nvCxnSpPr>
          <p:cNvPr id="31" name="Connector 30"/>
          <p:cNvCxnSpPr/>
          <p:nvPr/>
        </p:nvCxnSpPr>
        <p:spPr>
          <a:xfrm flipH="1">
            <a:off x="6494090" y="3072384"/>
            <a:ext cx="2096415" cy="1360736"/>
          </a:xfrm>
          <a:prstGeom prst="line">
            <a:avLst/>
          </a:prstGeom>
          <a:ln w="13970">
            <a:solidFill>
              <a:srgbClr val="5D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629438" y="4343400"/>
            <a:ext cx="125440" cy="89720"/>
          </a:xfrm>
          <a:prstGeom prst="line">
            <a:avLst/>
          </a:prstGeom>
          <a:ln w="13970">
            <a:solidFill>
              <a:srgbClr val="5D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494205" y="2520817"/>
            <a:ext cx="1670408" cy="1173359"/>
          </a:xfrm>
          <a:prstGeom prst="line">
            <a:avLst/>
          </a:prstGeom>
          <a:ln w="13970">
            <a:solidFill>
              <a:srgbClr val="5D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icon_benchmark_comparis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85018" y="5029200"/>
            <a:ext cx="2353491" cy="859536"/>
          </a:xfrm>
          <a:prstGeom prst="rect">
            <a:avLst/>
          </a:prstGeom>
        </p:spPr>
      </p:pic>
      <p:cxnSp>
        <p:nvCxnSpPr>
          <p:cNvPr id="35" name="Connector 34"/>
          <p:cNvCxnSpPr/>
          <p:nvPr/>
        </p:nvCxnSpPr>
        <p:spPr>
          <a:xfrm>
            <a:off x="6061764" y="4864608"/>
            <a:ext cx="0" cy="164592"/>
          </a:xfrm>
          <a:prstGeom prst="line">
            <a:avLst/>
          </a:prstGeom>
          <a:ln w="13970">
            <a:solidFill>
              <a:srgbClr val="5D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830154" y="5084064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200">
                <a:solidFill>
                  <a:srgbClr val="1F2A36"/>
                </a:solidFill>
              </a:defRPr>
            </a:pPr>
            <a:r>
              <a:t>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